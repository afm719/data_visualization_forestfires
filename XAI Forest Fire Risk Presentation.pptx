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"/>
      <p:regular r:id="rId27"/>
      <p:bold r:id="rId28"/>
      <p:italic r:id="rId29"/>
      <p:boldItalic r:id="rId30"/>
    </p:embeddedFont>
    <p:embeddedFont>
      <p:font typeface="Lato Light"/>
      <p:regular r:id="rId31"/>
      <p:bold r:id="rId32"/>
      <p:italic r:id="rId33"/>
      <p:boldItalic r:id="rId34"/>
    </p:embeddedFont>
    <p:embeddedFont>
      <p:font typeface="Poppins ExtraBold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260C61-CE91-4B28-B6FE-A447DA7DB62E}">
  <a:tblStyle styleId="{E2260C61-CE91-4B28-B6FE-A447DA7DB62E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  <a:tblStyle styleId="{C40970EA-49EF-4EA7-A465-39A10629B16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Light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33" Type="http://schemas.openxmlformats.org/officeDocument/2006/relationships/font" Target="fonts/LatoLight-italic.fntdata"/><Relationship Id="rId10" Type="http://schemas.openxmlformats.org/officeDocument/2006/relationships/slide" Target="slides/slide4.xml"/><Relationship Id="rId32" Type="http://schemas.openxmlformats.org/officeDocument/2006/relationships/font" Target="fonts/LatoLight-bold.fntdata"/><Relationship Id="rId13" Type="http://schemas.openxmlformats.org/officeDocument/2006/relationships/slide" Target="slides/slide7.xml"/><Relationship Id="rId35" Type="http://schemas.openxmlformats.org/officeDocument/2006/relationships/font" Target="fonts/PoppinsExtraBold-bold.fntdata"/><Relationship Id="rId12" Type="http://schemas.openxmlformats.org/officeDocument/2006/relationships/slide" Target="slides/slide6.xml"/><Relationship Id="rId34" Type="http://schemas.openxmlformats.org/officeDocument/2006/relationships/font" Target="fonts/LatoLight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PoppinsExtraBold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283492ee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e283492eef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1bab94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ed1bab94b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283492ee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e283492eef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d1bab94b1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d1bab94b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3.png"/><Relationship Id="rId8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75597" y="1757362"/>
            <a:ext cx="6440805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XAI for Forest Fire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Risk Assessment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28950" y="3481387"/>
            <a:ext cx="6134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0B981"/>
                </a:solidFill>
                <a:latin typeface="Lato Light"/>
                <a:ea typeface="Lato Light"/>
                <a:cs typeface="Lato Light"/>
                <a:sym typeface="Lato Light"/>
              </a:rPr>
              <a:t>Visualizing Meteorological Drivers with SHAP Frameworks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0" y="4167187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028950" y="4586287"/>
            <a:ext cx="6134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University of Trieste | Data </a:t>
            </a:r>
            <a:r>
              <a:rPr lang="en-US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Visualization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June 9th,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525"/>
            <a:ext cx="11049000" cy="165848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3810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01. RESEARCH CONTEXT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6524625"/>
            <a:ext cx="3333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Cortez &amp; Morais (2007) | UCI Machine Learning Repository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75489" y="2009662"/>
            <a:ext cx="1054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Dataset Summary</a:t>
            </a:r>
            <a:endParaRPr sz="1800"/>
          </a:p>
        </p:txBody>
      </p:sp>
      <p:sp>
        <p:nvSpPr>
          <p:cNvPr id="99" name="Google Shape;99;p14"/>
          <p:cNvSpPr txBox="1"/>
          <p:nvPr/>
        </p:nvSpPr>
        <p:spPr>
          <a:xfrm>
            <a:off x="1075489" y="2371612"/>
            <a:ext cx="1004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Origin:</a:t>
            </a:r>
            <a:r>
              <a:rPr b="0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Montesinho Natural Park (Portugal).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75489" y="2647837"/>
            <a:ext cx="1004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Telemetry:</a:t>
            </a:r>
            <a:r>
              <a:rPr b="0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Real-time weather data (Temp, RH, Wind, Rain).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75489" y="2924062"/>
            <a:ext cx="1004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Objective:</a:t>
            </a:r>
            <a:r>
              <a:rPr b="0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Predict burned area using Random Forest Regressors.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525"/>
            <a:ext cx="11049000" cy="1658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62480"/>
            <a:ext cx="11049000" cy="17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381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01. RESEARCH CONTEXT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71500" y="971550"/>
            <a:ext cx="11049000" cy="28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6524625"/>
            <a:ext cx="333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Cortez &amp; Morais (2007) | UCI Machine Learning Repository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075489" y="2009662"/>
            <a:ext cx="1054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Dataset Summary</a:t>
            </a:r>
            <a:endParaRPr sz="1800"/>
          </a:p>
        </p:txBody>
      </p:sp>
      <p:sp>
        <p:nvSpPr>
          <p:cNvPr id="113" name="Google Shape;113;p15"/>
          <p:cNvSpPr txBox="1"/>
          <p:nvPr/>
        </p:nvSpPr>
        <p:spPr>
          <a:xfrm>
            <a:off x="1075489" y="2371612"/>
            <a:ext cx="1004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Origin:</a:t>
            </a:r>
            <a:r>
              <a:rPr b="0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Montesinho Natural Park (Portugal).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75489" y="2647837"/>
            <a:ext cx="1004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Telemetry:</a:t>
            </a:r>
            <a:r>
              <a:rPr b="0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Real-time weather data (Temp, RH, Wind, Rain).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75489" y="2924062"/>
            <a:ext cx="1004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Objective:</a:t>
            </a:r>
            <a:r>
              <a:rPr b="0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Predict burned area using Random Forest Regressors.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75489" y="4089742"/>
            <a:ext cx="1054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Montserrat"/>
                <a:ea typeface="Montserrat"/>
                <a:cs typeface="Montserrat"/>
                <a:sym typeface="Montserrat"/>
              </a:rPr>
              <a:t>Analytical Challenge</a:t>
            </a:r>
            <a:endParaRPr sz="1800"/>
          </a:p>
        </p:txBody>
      </p:sp>
      <p:sp>
        <p:nvSpPr>
          <p:cNvPr id="117" name="Google Shape;117;p15"/>
          <p:cNvSpPr txBox="1"/>
          <p:nvPr/>
        </p:nvSpPr>
        <p:spPr>
          <a:xfrm>
            <a:off x="1075489" y="4451692"/>
            <a:ext cx="1004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Machine Learning models are typically "black-boxes."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75489" y="4727917"/>
            <a:ext cx="1004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By applying </a:t>
            </a:r>
            <a:r>
              <a:rPr b="1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SHAP (SHapley Additive exPlanations)</a:t>
            </a:r>
            <a:r>
              <a:rPr b="0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we map mathematical weights into intuitive </a:t>
            </a:r>
            <a:r>
              <a:rPr b="1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Visual Channels</a:t>
            </a:r>
            <a:r>
              <a:rPr b="0" i="0" lang="en-US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for human interpretation.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381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01.1</a:t>
            </a:r>
            <a:r>
              <a:rPr b="1" lang="en-US" sz="285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 DATASET AT A GLANCE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71500" y="971550"/>
            <a:ext cx="11049000" cy="28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84150" y="5090173"/>
            <a:ext cx="4241150" cy="138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84094" y="2028825"/>
            <a:ext cx="2025253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99848" y="2028825"/>
            <a:ext cx="2025401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84100" y="3371850"/>
            <a:ext cx="2025250" cy="100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99850" y="3371850"/>
            <a:ext cx="2025250" cy="10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81050" y="6477000"/>
            <a:ext cx="333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Cortez &amp; Morais (2007) | UCI Machine Learning Repository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81050" y="1571625"/>
            <a:ext cx="6328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9688"/>
                </a:solidFill>
                <a:latin typeface="Poppins"/>
                <a:ea typeface="Poppins"/>
                <a:cs typeface="Poppins"/>
                <a:sym typeface="Poppins"/>
              </a:rPr>
              <a:t>Variable Overview (13 total)</a:t>
            </a:r>
            <a:endParaRPr/>
          </a:p>
        </p:txBody>
      </p:sp>
      <p:graphicFrame>
        <p:nvGraphicFramePr>
          <p:cNvPr id="133" name="Google Shape;133;p16"/>
          <p:cNvGraphicFramePr/>
          <p:nvPr/>
        </p:nvGraphicFramePr>
        <p:xfrm>
          <a:off x="781050" y="2028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{E2260C61-CE91-4B28-B6FE-A447DA7DB62E}</a:tableStyleId>
              </a:tblPr>
              <a:tblGrid>
                <a:gridCol w="1755125"/>
                <a:gridCol w="1410300"/>
                <a:gridCol w="2861375"/>
              </a:tblGrid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A3A"/>
                    </a:solidFill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X, 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Spatial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Coordinates in Montesinho Park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month, day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Temporal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Date of the observation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FFMC, DMC, DC, ISI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FWI Indices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Derived fire risk indices (not used)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4785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temp, RH, wind, rain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4785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Meteorological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4785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Used in model (directly observable)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</a:tr>
              <a:tr h="379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area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Target (ha)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Burned area to predict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4" name="Google Shape;134;p16"/>
          <p:cNvSpPr txBox="1"/>
          <p:nvPr/>
        </p:nvSpPr>
        <p:spPr>
          <a:xfrm>
            <a:off x="781050" y="4448175"/>
            <a:ext cx="6026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Focus: 4 meteorological variables only, isolating direct atmospheric conditions from derived FWI indices.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284094" y="1571625"/>
            <a:ext cx="4453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9688"/>
                </a:solidFill>
                <a:latin typeface="Poppins"/>
                <a:ea typeface="Poppins"/>
                <a:cs typeface="Poppins"/>
                <a:sym typeface="Poppins"/>
              </a:rPr>
              <a:t>Key Statistics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284094" y="4703917"/>
            <a:ext cx="4453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9688"/>
                </a:solidFill>
                <a:latin typeface="Poppins"/>
                <a:ea typeface="Poppins"/>
                <a:cs typeface="Poppins"/>
                <a:sym typeface="Poppins"/>
              </a:rPr>
              <a:t>Meteorological Ranges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522219" y="5270251"/>
            <a:ext cx="376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Temp: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2.2 - 33.3 °C (mean 18.9°C)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522219" y="5575051"/>
            <a:ext cx="376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RH: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15 - 100 % (mean 44.3%)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522219" y="5879851"/>
            <a:ext cx="376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Wind: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0.4 - 9.4 km/h (mean 4.0)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522219" y="6991350"/>
            <a:ext cx="3765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Rain: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509 / 517 records have zero rain (98.5%)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2536180" y="2767012"/>
            <a:ext cx="14103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3946475" y="2767012"/>
            <a:ext cx="28614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2536180" y="3148012"/>
            <a:ext cx="14103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3946475" y="3148012"/>
            <a:ext cx="28614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2536180" y="3529012"/>
            <a:ext cx="14103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3946475" y="3529012"/>
            <a:ext cx="28614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2536180" y="3910012"/>
            <a:ext cx="14103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946475" y="3910012"/>
            <a:ext cx="28614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2536180" y="4291012"/>
            <a:ext cx="14103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3946475" y="4291012"/>
            <a:ext cx="28614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7398394" y="2238375"/>
            <a:ext cx="1796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517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398394" y="2809875"/>
            <a:ext cx="1796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records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9614148" y="2238375"/>
            <a:ext cx="1796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97316"/>
                </a:solidFill>
                <a:latin typeface="Poppins"/>
                <a:ea typeface="Poppins"/>
                <a:cs typeface="Poppins"/>
                <a:sym typeface="Poppins"/>
              </a:rPr>
              <a:t>47.8%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9614148" y="2809875"/>
            <a:ext cx="1796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fires with area &gt; 0 ha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7398394" y="3581400"/>
            <a:ext cx="1796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69%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7398394" y="4152900"/>
            <a:ext cx="1796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records in Aug-Sep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499850" y="3581400"/>
            <a:ext cx="2071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1,091 ha</a:t>
            </a:r>
            <a:endParaRPr sz="3500"/>
          </a:p>
        </p:txBody>
      </p:sp>
      <p:sp>
        <p:nvSpPr>
          <p:cNvPr id="158" name="Google Shape;158;p16"/>
          <p:cNvSpPr txBox="1"/>
          <p:nvPr/>
        </p:nvSpPr>
        <p:spPr>
          <a:xfrm>
            <a:off x="9614148" y="4171023"/>
            <a:ext cx="1796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largest fire recorded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7522219" y="6204232"/>
            <a:ext cx="3765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Rain: </a:t>
            </a:r>
            <a:r>
              <a:rPr lang="en-US" sz="12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509 / 517 records have zero rain (98.5%)</a:t>
            </a:r>
            <a:endParaRPr sz="12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97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38250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571500" y="3810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02. ADDRESSED QUESTIONS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885825" y="1462653"/>
            <a:ext cx="1048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1. How do individual meteorological factors globally impact the prediction of fire risk?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85825" y="2000250"/>
            <a:ext cx="104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97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38250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571500" y="38100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02. ADDRESSED QUESTIONS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971550"/>
            <a:ext cx="11049000" cy="28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885825" y="1462653"/>
            <a:ext cx="1048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1. How do individual meteorological factors globally impact the prediction of fire risk?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85825" y="2000250"/>
            <a:ext cx="10487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180" name="Google Shape;18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6275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848550" y="2715760"/>
            <a:ext cx="10705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2. What specific weather triggers drove the prediction for a high-risk case study (Day 5)?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38250"/>
            <a:ext cx="110490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09850"/>
            <a:ext cx="11049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571500" y="3810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03. GLOBAL IMPACT ANALYSIS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883610" y="1469730"/>
            <a:ext cx="10401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50">
                <a:solidFill>
                  <a:srgbClr val="065F46"/>
                </a:solidFill>
                <a:latin typeface="Lato"/>
                <a:ea typeface="Lato"/>
                <a:cs typeface="Lato"/>
                <a:sym typeface="Lato"/>
              </a:rPr>
              <a:t>The model captures counterintuitive relationships: higher temperatures unexpectedly lower predicted risk, exposing complex variable interactions.</a:t>
            </a:r>
            <a:endParaRPr b="1" sz="1650">
              <a:solidFill>
                <a:srgbClr val="065F4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065F4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2" name="Google Shape;192;p19" title="shap_summary_plot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6350" y="2705100"/>
            <a:ext cx="9715502" cy="379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67175"/>
            <a:ext cx="110490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71500" y="3810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03. MAPPING: GLOBAL VISUALIZATION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571500" y="1238250"/>
            <a:ext cx="11049000" cy="24479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20"/>
          <p:cNvGraphicFramePr/>
          <p:nvPr/>
        </p:nvGraphicFramePr>
        <p:xfrm>
          <a:off x="571500" y="1238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{C40970EA-49EF-4EA7-A465-39A10629B167}</a:tableStyleId>
              </a:tblPr>
              <a:tblGrid>
                <a:gridCol w="3344175"/>
                <a:gridCol w="2956175"/>
                <a:gridCol w="4748650"/>
              </a:tblGrid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Attribute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Attribute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Visual Channel Assigned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 Importance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Nominal / Ranked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Vertical Position (Y-axis Order)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Impact on Prediction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Quantitative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Horizontal Position (X-axis)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Predictor 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Quantitative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Color (Diverging Blue-to-Red)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Sample Density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Quantitative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Vertical Jitter (Point Clusters)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3" name="Google Shape;203;p20"/>
          <p:cNvSpPr txBox="1"/>
          <p:nvPr/>
        </p:nvSpPr>
        <p:spPr>
          <a:xfrm>
            <a:off x="819150" y="4314825"/>
            <a:ext cx="10553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Note the </a:t>
            </a:r>
            <a:r>
              <a:rPr b="1" i="0" lang="en-US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non-linear interactions</a:t>
            </a:r>
            <a:r>
              <a:rPr b="0" i="0" lang="en-US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 even at low temperatures (blue dots), extreme wind or drought conditions can push risk to the right.</a:t>
            </a:r>
            <a:endParaRPr sz="1500"/>
          </a:p>
        </p:txBody>
      </p:sp>
      <p:sp>
        <p:nvSpPr>
          <p:cNvPr id="204" name="Google Shape;204;p20"/>
          <p:cNvSpPr/>
          <p:nvPr/>
        </p:nvSpPr>
        <p:spPr>
          <a:xfrm>
            <a:off x="571500" y="2185987"/>
            <a:ext cx="334416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915667" y="2185987"/>
            <a:ext cx="29561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6871841" y="2185987"/>
            <a:ext cx="47486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71500" y="2681287"/>
            <a:ext cx="334416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915667" y="2681287"/>
            <a:ext cx="29561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6871841" y="2681287"/>
            <a:ext cx="47486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571500" y="3176587"/>
            <a:ext cx="334416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3915667" y="3176587"/>
            <a:ext cx="29561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6871841" y="3176587"/>
            <a:ext cx="47486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71500" y="3671887"/>
            <a:ext cx="334416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3915667" y="3671887"/>
            <a:ext cx="2956173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6871841" y="3671887"/>
            <a:ext cx="474865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38250"/>
            <a:ext cx="1104900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09850"/>
            <a:ext cx="110490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571500" y="3810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04. LOCAL EVENT BREAKDOWN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933450" y="1539506"/>
            <a:ext cx="1040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65F46"/>
                </a:solidFill>
                <a:latin typeface="Lato"/>
                <a:ea typeface="Lato"/>
                <a:cs typeface="Lato"/>
                <a:sym typeface="Lato"/>
              </a:rPr>
              <a:t>On Day 5, the cooling effects of temperature (14) and humidity (39) outweighed wind impact (+0.11), dropping the final risk prediction to 0.976.</a:t>
            </a:r>
            <a:endParaRPr/>
          </a:p>
        </p:txBody>
      </p:sp>
      <p:pic>
        <p:nvPicPr>
          <p:cNvPr id="226" name="Google Shape;22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1488" y="2752725"/>
            <a:ext cx="9005235" cy="375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67175"/>
            <a:ext cx="110490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571500" y="38100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04. MAPPING: LOCAL VISUALIZATION</a:t>
            </a: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571500" y="971550"/>
            <a:ext cx="11049000" cy="2857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571500" y="1238250"/>
            <a:ext cx="11049000" cy="24479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6" name="Google Shape;236;p22"/>
          <p:cNvGraphicFramePr/>
          <p:nvPr/>
        </p:nvGraphicFramePr>
        <p:xfrm>
          <a:off x="571500" y="1238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{C40970EA-49EF-4EA7-A465-39A10629B167}</a:tableStyleId>
              </a:tblPr>
              <a:tblGrid>
                <a:gridCol w="3135075"/>
                <a:gridCol w="2677425"/>
                <a:gridCol w="5236525"/>
              </a:tblGrid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Attribute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Attribute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Visual Channel Assigned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Expected Baseline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Quantitative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X-Axis Origin Point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Feature Contribution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Quantitative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Bar Horizontal Width (Size)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Impact Direction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Categorical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Color (Pink: Increase / Blue: Decrease)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 Output Area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Quantitative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 X-Axis Endpoint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7" name="Google Shape;237;p22"/>
          <p:cNvSpPr txBox="1"/>
          <p:nvPr/>
        </p:nvSpPr>
        <p:spPr>
          <a:xfrm>
            <a:off x="819150" y="4314825"/>
            <a:ext cx="10553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sequential decomposition (Waterfall) minimizes cognitive load while identifying specific environmental triggers for a single prediction.</a:t>
            </a:r>
            <a:endParaRPr sz="1500"/>
          </a:p>
        </p:txBody>
      </p:sp>
      <p:sp>
        <p:nvSpPr>
          <p:cNvPr id="238" name="Google Shape;238;p22"/>
          <p:cNvSpPr/>
          <p:nvPr/>
        </p:nvSpPr>
        <p:spPr>
          <a:xfrm>
            <a:off x="571500" y="2185987"/>
            <a:ext cx="31350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3706564" y="2185987"/>
            <a:ext cx="26774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383982" y="2185987"/>
            <a:ext cx="52365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571500" y="2681287"/>
            <a:ext cx="31350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706564" y="2681287"/>
            <a:ext cx="26774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6383982" y="2681287"/>
            <a:ext cx="52365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571500" y="3176587"/>
            <a:ext cx="31350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3706564" y="3176587"/>
            <a:ext cx="26774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6383982" y="3176587"/>
            <a:ext cx="52365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71500" y="3671887"/>
            <a:ext cx="313506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3706564" y="3671887"/>
            <a:ext cx="26774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6383982" y="3671887"/>
            <a:ext cx="52365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850" y="1752600"/>
            <a:ext cx="5267325" cy="2607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850" y="4819811"/>
            <a:ext cx="52673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53175" y="1943100"/>
            <a:ext cx="5267325" cy="2226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3175" y="4360515"/>
            <a:ext cx="526732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/>
          <p:nvPr/>
        </p:nvSpPr>
        <p:spPr>
          <a:xfrm>
            <a:off x="0" y="0"/>
            <a:ext cx="133500" cy="6858000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704850" y="381000"/>
            <a:ext cx="1146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2C3E5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05. INDIVIDUAL CONTRIBUTIONS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704850" y="1019175"/>
            <a:ext cx="10915800" cy="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704850" y="6429375"/>
            <a:ext cx="333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Source: Cortez &amp; Morais (2007) | UCI Machine Learning Repository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704850" y="1276350"/>
            <a:ext cx="553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D284"/>
                </a:solidFill>
                <a:latin typeface="Poppins"/>
                <a:ea typeface="Poppins"/>
                <a:cs typeface="Poppins"/>
                <a:sym typeface="Poppins"/>
              </a:rPr>
              <a:t>Student Contributions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6667500" y="1276350"/>
            <a:ext cx="52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D284"/>
                </a:solidFill>
                <a:latin typeface="Poppins"/>
                <a:ea typeface="Poppins"/>
                <a:cs typeface="Poppins"/>
                <a:sym typeface="Poppins"/>
              </a:rPr>
              <a:t>Bonus: Discarded Visualization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1085850" y="2085975"/>
            <a:ext cx="473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Arahí Fernández Monagas</a:t>
            </a:r>
            <a:endParaRPr/>
          </a:p>
        </p:txBody>
      </p:sp>
      <p:pic>
        <p:nvPicPr>
          <p:cNvPr descr="image.png" id="266" name="Google Shape;26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53175" y="134778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6677025" y="2219325"/>
            <a:ext cx="4619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2410C"/>
                </a:solidFill>
                <a:latin typeface="Lato"/>
                <a:ea typeface="Lato"/>
                <a:cs typeface="Lato"/>
                <a:sym typeface="Lato"/>
              </a:rPr>
              <a:t>Discarded: SHAP Bar Chart (mean |SHAP|)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677025" y="2636490"/>
            <a:ext cx="46197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simple bar chart ranking features by average absolute SHAP value was considered as an alternative global explanation.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6677025" y="3207990"/>
            <a:ext cx="46197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B91C1C"/>
                </a:solidFill>
                <a:latin typeface="Lato"/>
                <a:ea typeface="Lato"/>
                <a:cs typeface="Lato"/>
                <a:sym typeface="Lato"/>
              </a:rPr>
              <a:t>Why rejected: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collapses distribution to a single mean, losing direction of impact and non-linear behavior. The beeswarm encodes more information per visual channel with no added cognitive load.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677025" y="4636740"/>
            <a:ext cx="46197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47857"/>
                </a:solidFill>
                <a:latin typeface="Lato"/>
                <a:ea typeface="Lato"/>
                <a:cs typeface="Lato"/>
                <a:sym typeface="Lato"/>
              </a:rPr>
              <a:t>Beeswarm advantage: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shows magnitude, direction AND feature value (color) simultaneously for all samples, revealing non-linear interactions that bar charts hide.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1228725" y="2505075"/>
            <a:ext cx="436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Dataset selection and exploration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1228725" y="2874615"/>
            <a:ext cx="436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Random Forest model training and evaluation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1228725" y="3244155"/>
            <a:ext cx="436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SHAP explainability framework (global + local)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1228725" y="3613695"/>
            <a:ext cx="436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SHAP Beeswarm and Waterfall visualizations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1228725" y="3983235"/>
            <a:ext cx="436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Presentation design and narrative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1085850" y="2505075"/>
            <a:ext cx="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1085850" y="2874615"/>
            <a:ext cx="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1085850" y="3244155"/>
            <a:ext cx="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1085850" y="3613695"/>
            <a:ext cx="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1085850" y="3983235"/>
            <a:ext cx="57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4"/>
          <p:cNvSpPr txBox="1"/>
          <p:nvPr/>
        </p:nvSpPr>
        <p:spPr>
          <a:xfrm>
            <a:off x="3280648" y="1357312"/>
            <a:ext cx="563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10B981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1809750" y="2254213"/>
            <a:ext cx="8572500" cy="2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Black-box </a:t>
            </a:r>
            <a:r>
              <a:rPr lang="en-US" sz="255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models can inherit historical data biases, learning </a:t>
            </a:r>
            <a:r>
              <a:rPr b="1" lang="en-US" sz="25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false physical relationships</a:t>
            </a:r>
            <a:r>
              <a:rPr lang="en-US" sz="255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. </a:t>
            </a:r>
            <a:r>
              <a:rPr b="1" lang="en-US" sz="25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XAI</a:t>
            </a:r>
            <a:r>
              <a:rPr lang="en-US" sz="255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 visualizations act as a critical audit tool, exposing these </a:t>
            </a:r>
            <a:r>
              <a:rPr b="1" lang="en-US" sz="25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flaws to prevent blind trust</a:t>
            </a:r>
            <a:r>
              <a:rPr lang="en-US" sz="2550">
                <a:solidFill>
                  <a:srgbClr val="FFFFFF"/>
                </a:solidFill>
                <a:latin typeface="Lato Light"/>
                <a:ea typeface="Lato Light"/>
                <a:cs typeface="Lato Light"/>
                <a:sym typeface="Lato Light"/>
              </a:rPr>
              <a:t> in automated systems</a:t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5619750" y="4586287"/>
            <a:ext cx="952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4090975" y="5195861"/>
            <a:ext cx="394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University of Trieste | Data Visualization 2026 Summer Session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